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Explain: Machine learning: algorithms that improve with experience / Task T, experience E, performance measure P / Three paradigms: supervised, unsupervised, reinforcement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Explain: Supervised: labelled (x, y) pairs — classification &amp; regression / Unsupervised: unlabelled data — clustering, dimensionality reduction / Reinforcement: agent, environment, reward signal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Explain: Prediction: y_hat = w·x + b / Loss: mean squared error (MSE) / Closed form: normal equations w = (X^T X)^{-1} X^T y / O(d^3) inversion — gradient descent often preferred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Explain: theta := theta - alpha * grad L(theta) / Learning rate alpha: too small = slow, too large = diverge / SGD uses mini-batches for cheaper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Explain: Overfitting: great on train, poor on new data / L2 (ridge): lambda * ||w||^2 — smooth shrinkage / L1 (lasso): lambda * ||w||_1 — sparse, feature selection / Tune lambda on validation, report on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Introduction to Machine Learning</a:t>
            </a:r>
          </a:p>
          <a:p>
            <a:pPr>
              <a:defRPr sz="1700"/>
            </a:pPr>
            <a:r>
              <a:t>Lecture 1 — what learning from data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•  Machine learning: algorithms that improve with experience</a:t>
            </a:r>
          </a:p>
          <a:p>
            <a:pPr>
              <a:spcAft>
                <a:spcPts val="1400"/>
              </a:spcAft>
              <a:defRPr sz="2000"/>
            </a:pPr>
            <a:r>
              <a:t>•  Task T, experience E, performance measure P</a:t>
            </a:r>
          </a:p>
          <a:p>
            <a:pPr>
              <a:spcAft>
                <a:spcPts val="1400"/>
              </a:spcAft>
              <a:defRPr sz="2000"/>
            </a:pPr>
            <a:r>
              <a:t>•  Three paradigms: supervised, unsupervised, reinforcement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Supervised vs Unsupervised</a:t>
            </a:r>
          </a:p>
          <a:p>
            <a:pPr>
              <a:defRPr sz="1700"/>
            </a:pPr>
            <a:r>
              <a:t>The two workhorses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•  Supervised: labelled (x, y) pairs — classification &amp; regression</a:t>
            </a:r>
          </a:p>
          <a:p>
            <a:pPr>
              <a:spcAft>
                <a:spcPts val="1400"/>
              </a:spcAft>
              <a:defRPr sz="2000"/>
            </a:pPr>
            <a:r>
              <a:t>•  Unsupervised: unlabelled data — clustering, dimensionality reduction</a:t>
            </a:r>
          </a:p>
          <a:p>
            <a:pPr>
              <a:spcAft>
                <a:spcPts val="1400"/>
              </a:spcAft>
              <a:defRPr sz="2000"/>
            </a:pPr>
            <a:r>
              <a:t>•  Reinforcement: agent, environment, reward signal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Linear Regression</a:t>
            </a:r>
          </a:p>
          <a:p>
            <a:pPr>
              <a:defRPr sz="1700"/>
            </a:pPr>
            <a:r>
              <a:t>Fitting a line to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•  Prediction: y_hat = w·x + b</a:t>
            </a:r>
          </a:p>
          <a:p>
            <a:pPr>
              <a:spcAft>
                <a:spcPts val="1400"/>
              </a:spcAft>
              <a:defRPr sz="2000"/>
            </a:pPr>
            <a:r>
              <a:t>•  Loss: mean squared error (MSE)</a:t>
            </a:r>
          </a:p>
          <a:p>
            <a:pPr>
              <a:spcAft>
                <a:spcPts val="1400"/>
              </a:spcAft>
              <a:defRPr sz="2000"/>
            </a:pPr>
            <a:r>
              <a:t>•  Closed form: normal equations w = (X^T X)^{-1} X^T y</a:t>
            </a:r>
          </a:p>
          <a:p>
            <a:pPr>
              <a:spcAft>
                <a:spcPts val="1400"/>
              </a:spcAft>
              <a:defRPr sz="2000"/>
            </a:pPr>
            <a:r>
              <a:t>•  O(d^3) inversion — gradient descent often preferred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Gradient Descent</a:t>
            </a:r>
          </a:p>
          <a:p>
            <a:pPr>
              <a:defRPr sz="1700"/>
            </a:pPr>
            <a:r>
              <a:t>The optimization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•  theta := theta - alpha * grad L(theta)</a:t>
            </a:r>
          </a:p>
          <a:p>
            <a:pPr>
              <a:spcAft>
                <a:spcPts val="1400"/>
              </a:spcAft>
              <a:defRPr sz="2000"/>
            </a:pPr>
            <a:r>
              <a:t>•  Learning rate alpha: too small = slow, too large = diverge</a:t>
            </a:r>
          </a:p>
          <a:p>
            <a:pPr>
              <a:spcAft>
                <a:spcPts val="1400"/>
              </a:spcAft>
              <a:defRPr sz="2000"/>
            </a:pPr>
            <a:r>
              <a:t>•  SGD uses mini-batches for cheaper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Overfitting &amp; Regularization</a:t>
            </a:r>
          </a:p>
          <a:p>
            <a:pPr>
              <a:defRPr sz="1700"/>
            </a:pPr>
            <a:r>
              <a:t>When memorizing beats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•  Overfitting: great on train, poor on new data</a:t>
            </a:r>
          </a:p>
          <a:p>
            <a:pPr>
              <a:spcAft>
                <a:spcPts val="1400"/>
              </a:spcAft>
              <a:defRPr sz="2000"/>
            </a:pPr>
            <a:r>
              <a:t>•  L2 (ridge): lambda * ||w||^2 — smooth shrinkage</a:t>
            </a:r>
          </a:p>
          <a:p>
            <a:pPr>
              <a:spcAft>
                <a:spcPts val="1400"/>
              </a:spcAft>
              <a:defRPr sz="2000"/>
            </a:pPr>
            <a:r>
              <a:t>•  L1 (lasso): lambda * ||w||_1 — sparse, feature selection</a:t>
            </a:r>
          </a:p>
          <a:p>
            <a:pPr>
              <a:spcAft>
                <a:spcPts val="1400"/>
              </a:spcAft>
              <a:defRPr sz="2000"/>
            </a:pPr>
            <a:r>
              <a:t>•  Tune lambda on validation, report on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